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28"/>
  </p:notesMasterIdLst>
  <p:sldIdLst>
    <p:sldId id="256" r:id="rId2"/>
    <p:sldId id="257" r:id="rId3"/>
    <p:sldId id="260" r:id="rId4"/>
    <p:sldId id="258" r:id="rId5"/>
    <p:sldId id="259" r:id="rId6"/>
    <p:sldId id="262" r:id="rId7"/>
    <p:sldId id="261" r:id="rId8"/>
    <p:sldId id="263" r:id="rId9"/>
    <p:sldId id="264" r:id="rId10"/>
    <p:sldId id="268" r:id="rId11"/>
    <p:sldId id="265" r:id="rId12"/>
    <p:sldId id="266" r:id="rId13"/>
    <p:sldId id="272" r:id="rId14"/>
    <p:sldId id="267" r:id="rId15"/>
    <p:sldId id="269" r:id="rId16"/>
    <p:sldId id="273" r:id="rId17"/>
    <p:sldId id="270" r:id="rId18"/>
    <p:sldId id="274" r:id="rId19"/>
    <p:sldId id="277" r:id="rId20"/>
    <p:sldId id="276" r:id="rId21"/>
    <p:sldId id="279" r:id="rId22"/>
    <p:sldId id="281" r:id="rId23"/>
    <p:sldId id="282" r:id="rId24"/>
    <p:sldId id="278" r:id="rId25"/>
    <p:sldId id="280" r:id="rId26"/>
    <p:sldId id="27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istina Arcusi" initials="CA" lastIdx="2" clrIdx="0">
    <p:extLst>
      <p:ext uri="{19B8F6BF-5375-455C-9EA6-DF929625EA0E}">
        <p15:presenceInfo xmlns:p15="http://schemas.microsoft.com/office/powerpoint/2012/main" userId="Cristina Arcus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4DB9A-76D7-4093-8942-ABE661D0186B}" v="35" dt="2026-01-29T10:15:17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09" autoAdjust="0"/>
  </p:normalViewPr>
  <p:slideViewPr>
    <p:cSldViewPr snapToGrid="0">
      <p:cViewPr varScale="1">
        <p:scale>
          <a:sx n="72" d="100"/>
          <a:sy n="72" d="100"/>
        </p:scale>
        <p:origin x="12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907C6-5116-4AEA-8477-DEEBBB5A94FB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B7C00-6AF1-467A-9E50-6C2F349371A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603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9544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Optimisation des coûts :</a:t>
            </a:r>
          </a:p>
          <a:p>
            <a:pPr marL="0" indent="0">
              <a:buNone/>
            </a:pPr>
            <a:r>
              <a:rPr lang="fr-FR" dirty="0"/>
              <a:t>Limiter les dépenses inutiles en maximisant l'utilisation des ressources existantes et en choisissant des solutions open-source lorsque cela est possible.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Développement des compétences :</a:t>
            </a:r>
          </a:p>
          <a:p>
            <a:pPr marL="0" indent="0">
              <a:buNone/>
            </a:pPr>
            <a:r>
              <a:rPr lang="fr-FR" dirty="0"/>
              <a:t>Encourager les membres de l'équipe à travailler sur des domaines moins familiers afin de renforcer leurs compétences et de promouvoir un apprentissage continu.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Approche progressive :</a:t>
            </a:r>
          </a:p>
          <a:p>
            <a:pPr marL="0" indent="0">
              <a:buNone/>
            </a:pPr>
            <a:r>
              <a:rPr lang="fr-FR" dirty="0"/>
              <a:t>Commencer par des tâches simples et augmenter progressivement la complexité en fonction du temps disponible, afin de garantir une montée en puissance maîtrisée du projet.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590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692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853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988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93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196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761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643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2B7C00-6AF1-467A-9E50-6C2F349371A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475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118923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308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931025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389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69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561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504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2051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4021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915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12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6F7B191-90EC-4DB4-B1AE-8BDEEB9145E0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21C6586-57ED-434F-9B5F-921B225A2D98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1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10" Type="http://schemas.openxmlformats.org/officeDocument/2006/relationships/image" Target="../media/image11.png"/><Relationship Id="rId4" Type="http://schemas.openxmlformats.org/officeDocument/2006/relationships/image" Target="../media/image20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3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0E083-812E-4D7D-A02A-62588D923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915" y="1904241"/>
            <a:ext cx="9610165" cy="1655762"/>
          </a:xfrm>
        </p:spPr>
        <p:txBody>
          <a:bodyPr>
            <a:normAutofit fontScale="90000"/>
          </a:bodyPr>
          <a:lstStyle/>
          <a:p>
            <a:r>
              <a:rPr lang="fr-FR" dirty="0"/>
              <a:t>Morning news ?</a:t>
            </a:r>
            <a:br>
              <a:rPr lang="fr-FR" dirty="0"/>
            </a:br>
            <a:endParaRPr lang="en-GB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5AE6F1-1DBA-4AA9-B2DA-5769325B0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251995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fr-FR" sz="72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Pourquoi pas Miksiei.fr ?</a:t>
            </a:r>
            <a:endParaRPr lang="en-GB" sz="7200" cap="all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E73D062-36C2-4C93-BC1D-7066EB763960}"/>
              </a:ext>
            </a:extLst>
          </p:cNvPr>
          <p:cNvSpPr txBox="1"/>
          <p:nvPr/>
        </p:nvSpPr>
        <p:spPr>
          <a:xfrm>
            <a:off x="2689411" y="4249221"/>
            <a:ext cx="6813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/>
              <a:t>Projet DevOps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285350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8FD16-0CE3-4AD6-9B5F-B9482B938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0" y="685800"/>
            <a:ext cx="5265420" cy="1485900"/>
          </a:xfrm>
        </p:spPr>
        <p:txBody>
          <a:bodyPr/>
          <a:lstStyle/>
          <a:p>
            <a:r>
              <a:rPr lang="fr-FR" b="1" dirty="0"/>
              <a:t>Cahier des charges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CE908A-3434-49BC-A1EA-F4F96667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440" y="1760220"/>
            <a:ext cx="5814060" cy="44119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Taches partagés dans cinq sections principales :</a:t>
            </a:r>
          </a:p>
          <a:p>
            <a:pPr marL="0" indent="0">
              <a:buNone/>
            </a:pPr>
            <a:endParaRPr lang="en-GB" dirty="0"/>
          </a:p>
          <a:p>
            <a:pPr lvl="0"/>
            <a:r>
              <a:rPr lang="fr-FR" b="1" dirty="0"/>
              <a:t>Gestion des versions</a:t>
            </a:r>
          </a:p>
          <a:p>
            <a:pPr lvl="0"/>
            <a:endParaRPr lang="en-GB" b="1" dirty="0"/>
          </a:p>
          <a:p>
            <a:pPr lvl="0"/>
            <a:r>
              <a:rPr lang="fr-FR" b="1" dirty="0"/>
              <a:t>Infrastructure</a:t>
            </a:r>
          </a:p>
          <a:p>
            <a:pPr lvl="0"/>
            <a:endParaRPr lang="en-GB" b="1" dirty="0"/>
          </a:p>
          <a:p>
            <a:pPr lvl="0"/>
            <a:r>
              <a:rPr lang="fr-FR" b="1" dirty="0"/>
              <a:t>Intégration et déploiement continus (CI/CD)</a:t>
            </a:r>
          </a:p>
          <a:p>
            <a:pPr lvl="0"/>
            <a:endParaRPr lang="en-GB" b="1" dirty="0"/>
          </a:p>
          <a:p>
            <a:pPr lvl="0"/>
            <a:r>
              <a:rPr lang="fr-FR" b="1" dirty="0"/>
              <a:t>Sécurité</a:t>
            </a:r>
          </a:p>
          <a:p>
            <a:pPr lvl="0"/>
            <a:endParaRPr lang="en-GB" b="1" dirty="0"/>
          </a:p>
          <a:p>
            <a:pPr lvl="0"/>
            <a:r>
              <a:rPr lang="fr-FR" b="1" dirty="0"/>
              <a:t>Surveillance</a:t>
            </a:r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182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F8F24-2928-4D1F-AA2A-2FB098AFB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00100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Objectifs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2C59D8-CC96-4E5C-B082-4AAB083ED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85900"/>
            <a:ext cx="9601200" cy="4960620"/>
          </a:xfrm>
        </p:spPr>
        <p:txBody>
          <a:bodyPr>
            <a:normAutofit/>
          </a:bodyPr>
          <a:lstStyle/>
          <a:p>
            <a:r>
              <a:rPr lang="fr-FR" b="1" dirty="0"/>
              <a:t>Environnement de production</a:t>
            </a:r>
            <a:r>
              <a:rPr lang="fr-FR" dirty="0"/>
              <a:t> :</a:t>
            </a:r>
          </a:p>
          <a:p>
            <a:pPr marL="530352" lvl="1" indent="0">
              <a:buNone/>
            </a:pPr>
            <a:r>
              <a:rPr lang="fr-FR" dirty="0"/>
              <a:t>Mise en place complète : Frontend, backend et base de données.</a:t>
            </a:r>
          </a:p>
          <a:p>
            <a:pPr marL="530352" lvl="1" indent="0">
              <a:buNone/>
            </a:pPr>
            <a:endParaRPr lang="fr-FR" dirty="0"/>
          </a:p>
          <a:p>
            <a:r>
              <a:rPr lang="fr-FR" b="1" dirty="0"/>
              <a:t>Environnement de préproduction</a:t>
            </a:r>
            <a:r>
              <a:rPr lang="fr-FR" dirty="0"/>
              <a:t> : </a:t>
            </a:r>
          </a:p>
          <a:p>
            <a:pPr marL="530352" lvl="1" indent="0">
              <a:buNone/>
            </a:pPr>
            <a:r>
              <a:rPr lang="fr-FR" dirty="0"/>
              <a:t>Mise en place complète : Frontend, backend et base de données.</a:t>
            </a:r>
          </a:p>
          <a:p>
            <a:pPr marL="530352" lvl="1" indent="0">
              <a:buNone/>
            </a:pPr>
            <a:endParaRPr lang="fr-FR" dirty="0"/>
          </a:p>
          <a:p>
            <a:r>
              <a:rPr lang="fr-FR" b="1" dirty="0"/>
              <a:t>Gestion de </a:t>
            </a:r>
            <a:r>
              <a:rPr lang="fr-FR" dirty="0"/>
              <a:t> </a:t>
            </a:r>
            <a:r>
              <a:rPr lang="fr-FR" b="1" dirty="0"/>
              <a:t>version du code source  (SCM) 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Automatisation des tests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b="1" dirty="0"/>
              <a:t>Système de surveillance</a:t>
            </a:r>
            <a:r>
              <a:rPr lang="fr-FR" dirty="0"/>
              <a:t> :</a:t>
            </a:r>
          </a:p>
          <a:p>
            <a:pPr marL="530352" lvl="1" indent="0">
              <a:buNone/>
            </a:pPr>
            <a:r>
              <a:rPr lang="fr-FR" dirty="0"/>
              <a:t> Surveillance complète de l'infrastructure.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192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27BF26-C4B3-465E-AA42-D0292BA8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82980"/>
          </a:xfrm>
        </p:spPr>
        <p:txBody>
          <a:bodyPr/>
          <a:lstStyle/>
          <a:p>
            <a:r>
              <a:rPr lang="fr-FR" sz="4000" b="1" dirty="0"/>
              <a:t>Notre</a:t>
            </a:r>
            <a:r>
              <a:rPr lang="fr-FR" dirty="0"/>
              <a:t> </a:t>
            </a:r>
            <a:r>
              <a:rPr lang="fr-FR" sz="4000" b="1" dirty="0"/>
              <a:t>approche</a:t>
            </a:r>
            <a:endParaRPr lang="en-GB" sz="4000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C3809B-25DB-4167-B26C-5E3364303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47900"/>
            <a:ext cx="9601200" cy="3924300"/>
          </a:xfrm>
        </p:spPr>
        <p:txBody>
          <a:bodyPr>
            <a:normAutofit/>
          </a:bodyPr>
          <a:lstStyle/>
          <a:p>
            <a:r>
              <a:rPr lang="fr-FR" b="1" dirty="0"/>
              <a:t>Optimisation des coûts </a:t>
            </a:r>
            <a:endParaRPr lang="fr-FR" dirty="0"/>
          </a:p>
          <a:p>
            <a:pPr marL="530352" lvl="1" indent="0">
              <a:buNone/>
            </a:pPr>
            <a:r>
              <a:rPr lang="fr-FR" dirty="0"/>
              <a:t>Limiter les dépenses inutiles.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Développement des compétences </a:t>
            </a:r>
            <a:endParaRPr lang="fr-FR" dirty="0"/>
          </a:p>
          <a:p>
            <a:pPr marL="530352" lvl="1" indent="0">
              <a:buNone/>
            </a:pPr>
            <a:r>
              <a:rPr lang="fr-FR" dirty="0"/>
              <a:t>Encourager l'apprentissage continu.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Approche progressive </a:t>
            </a:r>
          </a:p>
          <a:p>
            <a:pPr marL="530352" lvl="1" indent="0">
              <a:buNone/>
            </a:pPr>
            <a:r>
              <a:rPr lang="fr-FR" dirty="0"/>
              <a:t>Commencer simplement et augmenter la complexité si le temps le permet.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629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2CF505-36B8-4807-8B2D-830754B7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de travail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086710-77F6-4370-8E6D-F61232EAF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60220"/>
            <a:ext cx="9601200" cy="4107180"/>
          </a:xfrm>
        </p:spPr>
        <p:txBody>
          <a:bodyPr/>
          <a:lstStyle/>
          <a:p>
            <a:endParaRPr lang="fr-FR" b="1" dirty="0"/>
          </a:p>
          <a:p>
            <a:r>
              <a:rPr lang="fr-FR" b="1" dirty="0"/>
              <a:t>Méthodologie Agile</a:t>
            </a:r>
            <a:r>
              <a:rPr lang="fr-FR" dirty="0"/>
              <a:t> </a:t>
            </a:r>
          </a:p>
          <a:p>
            <a:pPr marL="530352" lvl="1" indent="0">
              <a:buNone/>
            </a:pPr>
            <a:r>
              <a:rPr lang="fr-FR" dirty="0"/>
              <a:t>Une approche de gestion de projet qui favorise la flexibilité, la collaboration et l'amélioration continue.</a:t>
            </a:r>
          </a:p>
          <a:p>
            <a:endParaRPr lang="fr-FR" dirty="0"/>
          </a:p>
          <a:p>
            <a:endParaRPr lang="fr-FR" dirty="0"/>
          </a:p>
          <a:p>
            <a:r>
              <a:rPr lang="fr-FR" b="1" dirty="0"/>
              <a:t>Méthode Scrum</a:t>
            </a:r>
            <a:r>
              <a:rPr lang="fr-FR" dirty="0"/>
              <a:t> </a:t>
            </a:r>
          </a:p>
          <a:p>
            <a:pPr marL="530352" lvl="1" indent="0">
              <a:buNone/>
            </a:pPr>
            <a:r>
              <a:rPr lang="fr-FR" dirty="0"/>
              <a:t>Un cadre Agile spécifique qui divise les projets en cycles courts appelés sprints pour une livraison rapide et une adaptation constante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120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61A18-1BBE-4956-B9DA-2A7BAD97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572" y="102565"/>
            <a:ext cx="9601200" cy="1485900"/>
          </a:xfrm>
        </p:spPr>
        <p:txBody>
          <a:bodyPr/>
          <a:lstStyle/>
          <a:p>
            <a:r>
              <a:rPr lang="fr-FR" b="1" dirty="0" err="1"/>
              <a:t>Versionning</a:t>
            </a:r>
            <a:endParaRPr lang="en-GB" b="1" dirty="0"/>
          </a:p>
        </p:txBody>
      </p:sp>
      <p:sp>
        <p:nvSpPr>
          <p:cNvPr id="6" name="Google Shape;82;p15">
            <a:extLst>
              <a:ext uri="{FF2B5EF4-FFF2-40B4-BE49-F238E27FC236}">
                <a16:creationId xmlns:a16="http://schemas.microsoft.com/office/drawing/2014/main" id="{1E42C20A-AF72-4CFF-A801-426C28495331}"/>
              </a:ext>
            </a:extLst>
          </p:cNvPr>
          <p:cNvSpPr/>
          <p:nvPr/>
        </p:nvSpPr>
        <p:spPr>
          <a:xfrm>
            <a:off x="2677962" y="888073"/>
            <a:ext cx="7626684" cy="1866033"/>
          </a:xfrm>
          <a:prstGeom prst="roundRect">
            <a:avLst>
              <a:gd name="adj" fmla="val 464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" name="Google Shape;83;p15">
            <a:extLst>
              <a:ext uri="{FF2B5EF4-FFF2-40B4-BE49-F238E27FC236}">
                <a16:creationId xmlns:a16="http://schemas.microsoft.com/office/drawing/2014/main" id="{E0929591-4989-4986-A6DD-4B0B3F2DDF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91413" y="1330636"/>
            <a:ext cx="2020012" cy="984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4;p15">
            <a:extLst>
              <a:ext uri="{FF2B5EF4-FFF2-40B4-BE49-F238E27FC236}">
                <a16:creationId xmlns:a16="http://schemas.microsoft.com/office/drawing/2014/main" id="{EC98C42D-FFA1-43DB-B981-2C37651606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2627" y="1330636"/>
            <a:ext cx="2470368" cy="984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85;p15">
            <a:extLst>
              <a:ext uri="{FF2B5EF4-FFF2-40B4-BE49-F238E27FC236}">
                <a16:creationId xmlns:a16="http://schemas.microsoft.com/office/drawing/2014/main" id="{9A18E29B-C647-4CF4-A104-230DE8EFF74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017" y="1366430"/>
            <a:ext cx="2194018" cy="93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AE0A99-6F91-4254-B185-17F6F8F3BBA3}"/>
              </a:ext>
            </a:extLst>
          </p:cNvPr>
          <p:cNvSpPr/>
          <p:nvPr/>
        </p:nvSpPr>
        <p:spPr>
          <a:xfrm>
            <a:off x="1257096" y="3257775"/>
            <a:ext cx="4838904" cy="1554272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fr-FR" sz="1900" b="1" dirty="0">
                <a:solidFill>
                  <a:schemeClr val="tx2"/>
                </a:solidFill>
              </a:rPr>
              <a:t>Branches Principales du Projet</a:t>
            </a:r>
          </a:p>
          <a:p>
            <a:r>
              <a:rPr lang="fr-FR" sz="1900" b="1" dirty="0">
                <a:solidFill>
                  <a:schemeClr val="tx2"/>
                </a:solidFill>
              </a:rPr>
              <a:t>Branch prod :</a:t>
            </a:r>
          </a:p>
          <a:p>
            <a:pPr marL="742950" lvl="1" indent="-285750">
              <a:buFont typeface="+mj-lt"/>
              <a:buAutoNum type="arabicPeriod"/>
            </a:pPr>
            <a:r>
              <a:rPr lang="fr-FR" sz="1900" dirty="0">
                <a:solidFill>
                  <a:schemeClr val="tx2"/>
                </a:solidFill>
              </a:rPr>
              <a:t>Environnement de production stable</a:t>
            </a:r>
          </a:p>
          <a:p>
            <a:pPr marL="742950" lvl="1" indent="-285750">
              <a:buFont typeface="+mj-lt"/>
              <a:buAutoNum type="arabicPeriod"/>
            </a:pPr>
            <a:r>
              <a:rPr lang="fr-FR" sz="1900" dirty="0">
                <a:solidFill>
                  <a:schemeClr val="tx2"/>
                </a:solidFill>
              </a:rPr>
              <a:t>Accessible aux utilisateurs finaux</a:t>
            </a:r>
          </a:p>
          <a:p>
            <a:pPr marL="742950" lvl="1" indent="-285750">
              <a:buFont typeface="+mj-lt"/>
              <a:buAutoNum type="arabicPeriod"/>
            </a:pPr>
            <a:r>
              <a:rPr lang="fr-FR" sz="1900" dirty="0">
                <a:solidFill>
                  <a:schemeClr val="tx2"/>
                </a:solidFill>
              </a:rPr>
              <a:t>Mises à jour uniquement via </a:t>
            </a:r>
            <a:r>
              <a:rPr lang="fr-FR" sz="1900" dirty="0" err="1">
                <a:solidFill>
                  <a:schemeClr val="tx2"/>
                </a:solidFill>
              </a:rPr>
              <a:t>pre</a:t>
            </a:r>
            <a:r>
              <a:rPr lang="fr-FR" sz="1900" dirty="0">
                <a:solidFill>
                  <a:schemeClr val="tx2"/>
                </a:solidFill>
              </a:rPr>
              <a:t>-prod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7FACE7C-530C-455B-9A5D-A9577C58E2AE}"/>
              </a:ext>
            </a:extLst>
          </p:cNvPr>
          <p:cNvSpPr txBox="1"/>
          <p:nvPr/>
        </p:nvSpPr>
        <p:spPr>
          <a:xfrm>
            <a:off x="6375580" y="3347706"/>
            <a:ext cx="555734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900" b="1" dirty="0">
                <a:solidFill>
                  <a:schemeClr val="tx2"/>
                </a:solidFill>
              </a:rPr>
              <a:t>Branch </a:t>
            </a:r>
            <a:r>
              <a:rPr lang="fr-FR" sz="1900" b="1" dirty="0" err="1">
                <a:solidFill>
                  <a:schemeClr val="tx2"/>
                </a:solidFill>
              </a:rPr>
              <a:t>pre</a:t>
            </a:r>
            <a:r>
              <a:rPr lang="fr-FR" sz="1900" b="1" dirty="0">
                <a:solidFill>
                  <a:schemeClr val="tx2"/>
                </a:solidFill>
              </a:rPr>
              <a:t>-prod :</a:t>
            </a:r>
          </a:p>
          <a:p>
            <a:pPr marL="742950" lvl="1" indent="-285750">
              <a:buFont typeface="+mj-lt"/>
              <a:buAutoNum type="arabicPeriod"/>
            </a:pPr>
            <a:r>
              <a:rPr lang="fr-FR" sz="1900" dirty="0">
                <a:solidFill>
                  <a:schemeClr val="tx2"/>
                </a:solidFill>
              </a:rPr>
              <a:t>Environnement de </a:t>
            </a:r>
            <a:r>
              <a:rPr lang="fr-FR" sz="1900" dirty="0" err="1">
                <a:solidFill>
                  <a:schemeClr val="tx2"/>
                </a:solidFill>
              </a:rPr>
              <a:t>pré-production</a:t>
            </a:r>
            <a:r>
              <a:rPr lang="fr-FR" sz="1900" dirty="0">
                <a:solidFill>
                  <a:schemeClr val="tx2"/>
                </a:solidFill>
              </a:rPr>
              <a:t>/test</a:t>
            </a:r>
          </a:p>
          <a:p>
            <a:pPr marL="742950" lvl="1" indent="-285750">
              <a:buFont typeface="+mj-lt"/>
              <a:buAutoNum type="arabicPeriod"/>
            </a:pPr>
            <a:r>
              <a:rPr lang="fr-FR" sz="1900" dirty="0">
                <a:solidFill>
                  <a:schemeClr val="tx2"/>
                </a:solidFill>
              </a:rPr>
              <a:t>Test des nouvelles fonctionnalités et corrections de bugs</a:t>
            </a:r>
          </a:p>
          <a:p>
            <a:pPr marL="742950" lvl="1" indent="-285750">
              <a:buFont typeface="+mj-lt"/>
              <a:buAutoNum type="arabicPeriod"/>
            </a:pPr>
            <a:r>
              <a:rPr lang="fr-FR" sz="1900" dirty="0">
                <a:solidFill>
                  <a:schemeClr val="tx2"/>
                </a:solidFill>
              </a:rPr>
              <a:t>Mises à jour uniquement via dev</a:t>
            </a:r>
          </a:p>
          <a:p>
            <a:pPr marL="742950" lvl="1" indent="-285750">
              <a:buFont typeface="+mj-lt"/>
              <a:buAutoNum type="arabicPeriod"/>
            </a:pPr>
            <a:endParaRPr lang="fr-FR" sz="1900" dirty="0">
              <a:solidFill>
                <a:schemeClr val="tx2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ED016C-CF8B-4A3D-9253-88CEB252D47B}"/>
              </a:ext>
            </a:extLst>
          </p:cNvPr>
          <p:cNvSpPr/>
          <p:nvPr/>
        </p:nvSpPr>
        <p:spPr>
          <a:xfrm>
            <a:off x="2793689" y="5106947"/>
            <a:ext cx="636056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900" b="1" dirty="0">
                <a:solidFill>
                  <a:schemeClr val="tx2"/>
                </a:solidFill>
              </a:rPr>
              <a:t>Branch dev :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900" dirty="0">
                <a:solidFill>
                  <a:schemeClr val="tx2"/>
                </a:solidFill>
              </a:rPr>
              <a:t>Environnement où les développeurs intègrent les nouvelles fonctionnalités et corrections de bugs</a:t>
            </a:r>
          </a:p>
          <a:p>
            <a:pPr marL="742950" lvl="1" indent="-285750">
              <a:buFont typeface="+mj-lt"/>
              <a:buAutoNum type="arabicPeriod"/>
            </a:pPr>
            <a:r>
              <a:rPr lang="fr-FR" sz="1900" dirty="0">
                <a:solidFill>
                  <a:schemeClr val="tx2"/>
                </a:solidFill>
              </a:rPr>
              <a:t>Tests continus pour détection précoce des erreurs</a:t>
            </a:r>
          </a:p>
        </p:txBody>
      </p:sp>
      <p:pic>
        <p:nvPicPr>
          <p:cNvPr id="17" name="Google Shape;85;p15">
            <a:extLst>
              <a:ext uri="{FF2B5EF4-FFF2-40B4-BE49-F238E27FC236}">
                <a16:creationId xmlns:a16="http://schemas.microsoft.com/office/drawing/2014/main" id="{4F5CB489-C1A1-4EF7-96E0-5C3726AF2F1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580" y="2668873"/>
            <a:ext cx="1475256" cy="588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8330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11A69-2FD6-47E7-A603-C224145C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286" y="14510"/>
            <a:ext cx="8911687" cy="1280890"/>
          </a:xfrm>
        </p:spPr>
        <p:txBody>
          <a:bodyPr/>
          <a:lstStyle/>
          <a:p>
            <a:r>
              <a:rPr lang="fr-FR" dirty="0"/>
              <a:t>Schéma d’infrastructure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DAABF1-C2DB-44A7-9334-DA78FA86E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88715DD-8D19-4CCF-A340-A1A40ABA13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1" r="2945"/>
          <a:stretch/>
        </p:blipFill>
        <p:spPr>
          <a:xfrm>
            <a:off x="0" y="1076739"/>
            <a:ext cx="12263796" cy="562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1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15A191-62EA-4D07-BF12-C5F0E0D44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377440"/>
            <a:ext cx="9601200" cy="1485900"/>
          </a:xfrm>
        </p:spPr>
        <p:txBody>
          <a:bodyPr>
            <a:normAutofit/>
          </a:bodyPr>
          <a:lstStyle/>
          <a:p>
            <a:r>
              <a:rPr lang="fr-FR" sz="5400" b="1" dirty="0"/>
              <a:t>Environnement de prod</a:t>
            </a:r>
            <a:endParaRPr lang="en-GB" sz="5400" b="1" dirty="0"/>
          </a:p>
        </p:txBody>
      </p:sp>
    </p:spTree>
    <p:extLst>
      <p:ext uri="{BB962C8B-B14F-4D97-AF65-F5344CB8AC3E}">
        <p14:creationId xmlns:p14="http://schemas.microsoft.com/office/powerpoint/2010/main" val="376153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346FB-7B94-494F-92C2-55618A77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741" y="408428"/>
            <a:ext cx="9601200" cy="1485900"/>
          </a:xfrm>
        </p:spPr>
        <p:txBody>
          <a:bodyPr/>
          <a:lstStyle/>
          <a:p>
            <a:r>
              <a:rPr lang="fr-FR" dirty="0"/>
              <a:t>Prod - Backend</a:t>
            </a:r>
            <a:br>
              <a:rPr lang="fr-FR" dirty="0"/>
            </a:br>
            <a:endParaRPr lang="en-GB" dirty="0"/>
          </a:p>
        </p:txBody>
      </p:sp>
      <p:sp>
        <p:nvSpPr>
          <p:cNvPr id="4" name="Google Shape;117;p18">
            <a:extLst>
              <a:ext uri="{FF2B5EF4-FFF2-40B4-BE49-F238E27FC236}">
                <a16:creationId xmlns:a16="http://schemas.microsoft.com/office/drawing/2014/main" id="{F85D9212-B15B-4A05-8D3A-D0E34B120483}"/>
              </a:ext>
            </a:extLst>
          </p:cNvPr>
          <p:cNvSpPr/>
          <p:nvPr/>
        </p:nvSpPr>
        <p:spPr>
          <a:xfrm>
            <a:off x="4518991" y="111284"/>
            <a:ext cx="7580244" cy="1289674"/>
          </a:xfrm>
          <a:prstGeom prst="roundRect">
            <a:avLst>
              <a:gd name="adj" fmla="val 4640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Google Shape;118;p18">
            <a:extLst>
              <a:ext uri="{FF2B5EF4-FFF2-40B4-BE49-F238E27FC236}">
                <a16:creationId xmlns:a16="http://schemas.microsoft.com/office/drawing/2014/main" id="{66F40457-AED8-45B5-A090-7B7F5BF2402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2963" y="467872"/>
            <a:ext cx="1436676" cy="80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9;p18">
            <a:extLst>
              <a:ext uri="{FF2B5EF4-FFF2-40B4-BE49-F238E27FC236}">
                <a16:creationId xmlns:a16="http://schemas.microsoft.com/office/drawing/2014/main" id="{D7CECBC8-4A68-4A79-BDEC-5CCA74D75F4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83391" y="399222"/>
            <a:ext cx="1226672" cy="72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0;p18">
            <a:extLst>
              <a:ext uri="{FF2B5EF4-FFF2-40B4-BE49-F238E27FC236}">
                <a16:creationId xmlns:a16="http://schemas.microsoft.com/office/drawing/2014/main" id="{2CEEEA7C-4360-4158-8095-CC93644B456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8540" y="192132"/>
            <a:ext cx="1223450" cy="1263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1;p18">
            <a:extLst>
              <a:ext uri="{FF2B5EF4-FFF2-40B4-BE49-F238E27FC236}">
                <a16:creationId xmlns:a16="http://schemas.microsoft.com/office/drawing/2014/main" id="{00AD5EF1-1D50-4B52-855B-B800C900A43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2086" y="166182"/>
            <a:ext cx="1223450" cy="122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2;p18">
            <a:extLst>
              <a:ext uri="{FF2B5EF4-FFF2-40B4-BE49-F238E27FC236}">
                <a16:creationId xmlns:a16="http://schemas.microsoft.com/office/drawing/2014/main" id="{B49B080E-2A14-4DC2-A102-66463C9DED61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99460" y="346775"/>
            <a:ext cx="776478" cy="72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3;p18">
            <a:extLst>
              <a:ext uri="{FF2B5EF4-FFF2-40B4-BE49-F238E27FC236}">
                <a16:creationId xmlns:a16="http://schemas.microsoft.com/office/drawing/2014/main" id="{777BF8DD-9A3E-486F-AE2C-D4A790F935B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19712" y="467872"/>
            <a:ext cx="1080967" cy="62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24;p18">
            <a:extLst>
              <a:ext uri="{FF2B5EF4-FFF2-40B4-BE49-F238E27FC236}">
                <a16:creationId xmlns:a16="http://schemas.microsoft.com/office/drawing/2014/main" id="{FBE7D939-9FB0-4228-B792-A44864450E9F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10532" y="431741"/>
            <a:ext cx="734198" cy="765398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78" name="Picture 6" descr="MongoDB launches Atlas, its new database-as-a-service offering | TechCrunch">
            <a:extLst>
              <a:ext uri="{FF2B5EF4-FFF2-40B4-BE49-F238E27FC236}">
                <a16:creationId xmlns:a16="http://schemas.microsoft.com/office/drawing/2014/main" id="{13582CBB-9862-45F2-A111-E4EC8AF09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806" y="343499"/>
            <a:ext cx="1119759" cy="592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72EFBBB-7FE0-40FF-A0C1-0651974A93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388" y="1276585"/>
            <a:ext cx="10679015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4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564D3-490F-4FA7-AC7C-1C88184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17" y="288654"/>
            <a:ext cx="9601200" cy="1485900"/>
          </a:xfrm>
        </p:spPr>
        <p:txBody>
          <a:bodyPr/>
          <a:lstStyle/>
          <a:p>
            <a:r>
              <a:rPr lang="fr-FR" dirty="0"/>
              <a:t> Prod - Frontend</a:t>
            </a:r>
            <a:endParaRPr lang="en-GB" dirty="0"/>
          </a:p>
        </p:txBody>
      </p:sp>
      <p:sp>
        <p:nvSpPr>
          <p:cNvPr id="4" name="Google Shape;148;p20">
            <a:extLst>
              <a:ext uri="{FF2B5EF4-FFF2-40B4-BE49-F238E27FC236}">
                <a16:creationId xmlns:a16="http://schemas.microsoft.com/office/drawing/2014/main" id="{CD175790-F58A-4C4F-9D30-7555DC247731}"/>
              </a:ext>
            </a:extLst>
          </p:cNvPr>
          <p:cNvSpPr/>
          <p:nvPr/>
        </p:nvSpPr>
        <p:spPr>
          <a:xfrm>
            <a:off x="5208103" y="173107"/>
            <a:ext cx="6679097" cy="1258128"/>
          </a:xfrm>
          <a:prstGeom prst="roundRect">
            <a:avLst>
              <a:gd name="adj" fmla="val 464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Google Shape;149;p20">
            <a:extLst>
              <a:ext uri="{FF2B5EF4-FFF2-40B4-BE49-F238E27FC236}">
                <a16:creationId xmlns:a16="http://schemas.microsoft.com/office/drawing/2014/main" id="{4468E507-991A-44A8-AA88-56C16CB1262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1625" y="404078"/>
            <a:ext cx="1434492" cy="777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0;p20">
            <a:extLst>
              <a:ext uri="{FF2B5EF4-FFF2-40B4-BE49-F238E27FC236}">
                <a16:creationId xmlns:a16="http://schemas.microsoft.com/office/drawing/2014/main" id="{B97230B9-C2BE-4091-B401-8FF59C3278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0692" y="435229"/>
            <a:ext cx="810933" cy="77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1;p20">
            <a:extLst>
              <a:ext uri="{FF2B5EF4-FFF2-40B4-BE49-F238E27FC236}">
                <a16:creationId xmlns:a16="http://schemas.microsoft.com/office/drawing/2014/main" id="{51834916-6C55-4858-BF32-604674B54C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5448" y="352678"/>
            <a:ext cx="1244539" cy="858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2;p20">
            <a:extLst>
              <a:ext uri="{FF2B5EF4-FFF2-40B4-BE49-F238E27FC236}">
                <a16:creationId xmlns:a16="http://schemas.microsoft.com/office/drawing/2014/main" id="{D60C367B-471B-4BB1-BC6B-EE4E969D117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51484" y="381554"/>
            <a:ext cx="1299596" cy="92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53;p20">
            <a:extLst>
              <a:ext uri="{FF2B5EF4-FFF2-40B4-BE49-F238E27FC236}">
                <a16:creationId xmlns:a16="http://schemas.microsoft.com/office/drawing/2014/main" id="{C6EA9A53-A0E8-4E82-A852-FEC3B1A0CE2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1084" y="322590"/>
            <a:ext cx="766968" cy="8586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" name="Google Shape;154;p20">
            <a:extLst>
              <a:ext uri="{FF2B5EF4-FFF2-40B4-BE49-F238E27FC236}">
                <a16:creationId xmlns:a16="http://schemas.microsoft.com/office/drawing/2014/main" id="{C179BE24-32F7-4862-A15E-5056A72906BC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35979" y="381555"/>
            <a:ext cx="856708" cy="92649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A806F0B-6D13-4402-A780-88222A60381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0401" t="-2482" r="-1388" b="2482"/>
          <a:stretch/>
        </p:blipFill>
        <p:spPr>
          <a:xfrm>
            <a:off x="922842" y="1181267"/>
            <a:ext cx="4177865" cy="553479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18F7CB6-0F0F-402D-8B89-497607B954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0317" y="1838578"/>
            <a:ext cx="6084083" cy="45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9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15A191-62EA-4D07-BF12-C5F0E0D44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652" y="2377440"/>
            <a:ext cx="9601200" cy="1485900"/>
          </a:xfrm>
        </p:spPr>
        <p:txBody>
          <a:bodyPr>
            <a:normAutofit/>
          </a:bodyPr>
          <a:lstStyle/>
          <a:p>
            <a:r>
              <a:rPr lang="fr-FR" sz="5400" b="1" dirty="0"/>
              <a:t>Environnement de </a:t>
            </a:r>
            <a:r>
              <a:rPr lang="fr-FR" sz="5400" b="1" dirty="0" err="1"/>
              <a:t>pre</a:t>
            </a:r>
            <a:r>
              <a:rPr lang="fr-FR" sz="5400" b="1" dirty="0"/>
              <a:t>-prod</a:t>
            </a:r>
            <a:endParaRPr lang="en-GB" sz="5400" b="1" dirty="0"/>
          </a:p>
        </p:txBody>
      </p:sp>
    </p:spTree>
    <p:extLst>
      <p:ext uri="{BB962C8B-B14F-4D97-AF65-F5344CB8AC3E}">
        <p14:creationId xmlns:p14="http://schemas.microsoft.com/office/powerpoint/2010/main" val="3258995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3F12C-5113-425B-B90B-082D042B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57" y="59909"/>
            <a:ext cx="4830417" cy="838200"/>
          </a:xfrm>
        </p:spPr>
        <p:txBody>
          <a:bodyPr/>
          <a:lstStyle/>
          <a:p>
            <a:r>
              <a:rPr lang="fr-FR" dirty="0"/>
              <a:t>Pre-prod - Backend</a:t>
            </a:r>
            <a:endParaRPr lang="en-GB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6405D4F-0360-4885-9707-4C6F3CF87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732" y="898109"/>
            <a:ext cx="7083268" cy="6236614"/>
          </a:xfrm>
          <a:prstGeom prst="rect">
            <a:avLst/>
          </a:prstGeom>
        </p:spPr>
      </p:pic>
      <p:sp>
        <p:nvSpPr>
          <p:cNvPr id="5" name="Google Shape;101;p17">
            <a:extLst>
              <a:ext uri="{FF2B5EF4-FFF2-40B4-BE49-F238E27FC236}">
                <a16:creationId xmlns:a16="http://schemas.microsoft.com/office/drawing/2014/main" id="{EEAA0CD9-A292-4602-AA77-740FB11F719A}"/>
              </a:ext>
            </a:extLst>
          </p:cNvPr>
          <p:cNvSpPr/>
          <p:nvPr/>
        </p:nvSpPr>
        <p:spPr>
          <a:xfrm>
            <a:off x="1298586" y="898110"/>
            <a:ext cx="3313172" cy="5462934"/>
          </a:xfrm>
          <a:prstGeom prst="roundRect">
            <a:avLst>
              <a:gd name="adj" fmla="val 464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Google Shape;102;p17">
            <a:extLst>
              <a:ext uri="{FF2B5EF4-FFF2-40B4-BE49-F238E27FC236}">
                <a16:creationId xmlns:a16="http://schemas.microsoft.com/office/drawing/2014/main" id="{45D9EDEB-8B88-4E70-B034-2C0C76C64D9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709" y="1204303"/>
            <a:ext cx="1375751" cy="953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3;p17">
            <a:extLst>
              <a:ext uri="{FF2B5EF4-FFF2-40B4-BE49-F238E27FC236}">
                <a16:creationId xmlns:a16="http://schemas.microsoft.com/office/drawing/2014/main" id="{71730BB2-3FB4-4A21-B572-83A1CDA8974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2515" y="4023321"/>
            <a:ext cx="1443842" cy="61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04;p17">
            <a:extLst>
              <a:ext uri="{FF2B5EF4-FFF2-40B4-BE49-F238E27FC236}">
                <a16:creationId xmlns:a16="http://schemas.microsoft.com/office/drawing/2014/main" id="{B82F0070-1706-4D62-8181-08798201A21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0944" y="1317087"/>
            <a:ext cx="887187" cy="7769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" name="Google Shape;105;p17">
            <a:extLst>
              <a:ext uri="{FF2B5EF4-FFF2-40B4-BE49-F238E27FC236}">
                <a16:creationId xmlns:a16="http://schemas.microsoft.com/office/drawing/2014/main" id="{5E03252C-7E49-472E-A23D-9FC398B0453F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96492" y="3903265"/>
            <a:ext cx="1021621" cy="7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6;p17">
            <a:extLst>
              <a:ext uri="{FF2B5EF4-FFF2-40B4-BE49-F238E27FC236}">
                <a16:creationId xmlns:a16="http://schemas.microsoft.com/office/drawing/2014/main" id="{B326EAE6-F256-4649-B1A2-6A035359EB2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92025" y="5234597"/>
            <a:ext cx="1997907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7;p17">
            <a:extLst>
              <a:ext uri="{FF2B5EF4-FFF2-40B4-BE49-F238E27FC236}">
                <a16:creationId xmlns:a16="http://schemas.microsoft.com/office/drawing/2014/main" id="{5B627338-F2CA-435B-8542-E5D3900E3773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38177" y="2432669"/>
            <a:ext cx="1429749" cy="107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8;p17">
            <a:extLst>
              <a:ext uri="{FF2B5EF4-FFF2-40B4-BE49-F238E27FC236}">
                <a16:creationId xmlns:a16="http://schemas.microsoft.com/office/drawing/2014/main" id="{0CEF55A7-F096-4F9F-8147-7133E9D234CD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30926" y="2367596"/>
            <a:ext cx="887187" cy="11754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F8E558A-40CC-49BD-8706-44FDC9CD1480}"/>
              </a:ext>
            </a:extLst>
          </p:cNvPr>
          <p:cNvSpPr/>
          <p:nvPr/>
        </p:nvSpPr>
        <p:spPr>
          <a:xfrm>
            <a:off x="7402006" y="294343"/>
            <a:ext cx="321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/>
              <a:t>https://backend.test.miksiei.fr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40969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3F12C-5113-425B-B90B-082D042B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57" y="59909"/>
            <a:ext cx="4830417" cy="838200"/>
          </a:xfrm>
        </p:spPr>
        <p:txBody>
          <a:bodyPr/>
          <a:lstStyle/>
          <a:p>
            <a:r>
              <a:rPr lang="fr-FR" dirty="0"/>
              <a:t>Pre-prod - Frontend</a:t>
            </a:r>
            <a:endParaRPr lang="en-GB" dirty="0"/>
          </a:p>
        </p:txBody>
      </p:sp>
      <p:sp>
        <p:nvSpPr>
          <p:cNvPr id="5" name="Google Shape;101;p17">
            <a:extLst>
              <a:ext uri="{FF2B5EF4-FFF2-40B4-BE49-F238E27FC236}">
                <a16:creationId xmlns:a16="http://schemas.microsoft.com/office/drawing/2014/main" id="{EEAA0CD9-A292-4602-AA77-740FB11F719A}"/>
              </a:ext>
            </a:extLst>
          </p:cNvPr>
          <p:cNvSpPr/>
          <p:nvPr/>
        </p:nvSpPr>
        <p:spPr>
          <a:xfrm>
            <a:off x="1285334" y="1227620"/>
            <a:ext cx="3193901" cy="4402760"/>
          </a:xfrm>
          <a:prstGeom prst="roundRect">
            <a:avLst>
              <a:gd name="adj" fmla="val 464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Google Shape;102;p17">
            <a:extLst>
              <a:ext uri="{FF2B5EF4-FFF2-40B4-BE49-F238E27FC236}">
                <a16:creationId xmlns:a16="http://schemas.microsoft.com/office/drawing/2014/main" id="{45D9EDEB-8B88-4E70-B034-2C0C76C64D9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110" y="3208977"/>
            <a:ext cx="1375751" cy="953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3;p17">
            <a:extLst>
              <a:ext uri="{FF2B5EF4-FFF2-40B4-BE49-F238E27FC236}">
                <a16:creationId xmlns:a16="http://schemas.microsoft.com/office/drawing/2014/main" id="{71730BB2-3FB4-4A21-B572-83A1CDA897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369" y="3294308"/>
            <a:ext cx="1443842" cy="61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5;p17">
            <a:extLst>
              <a:ext uri="{FF2B5EF4-FFF2-40B4-BE49-F238E27FC236}">
                <a16:creationId xmlns:a16="http://schemas.microsoft.com/office/drawing/2014/main" id="{5E03252C-7E49-472E-A23D-9FC398B0453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6915" y="4498885"/>
            <a:ext cx="1021621" cy="77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6;p17">
            <a:extLst>
              <a:ext uri="{FF2B5EF4-FFF2-40B4-BE49-F238E27FC236}">
                <a16:creationId xmlns:a16="http://schemas.microsoft.com/office/drawing/2014/main" id="{B326EAE6-F256-4649-B1A2-6A035359EB2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84932" y="4410401"/>
            <a:ext cx="1997907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7;p17">
            <a:extLst>
              <a:ext uri="{FF2B5EF4-FFF2-40B4-BE49-F238E27FC236}">
                <a16:creationId xmlns:a16="http://schemas.microsoft.com/office/drawing/2014/main" id="{5B627338-F2CA-435B-8542-E5D3900E377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1974" y="1384665"/>
            <a:ext cx="1429749" cy="1072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8;p17">
            <a:extLst>
              <a:ext uri="{FF2B5EF4-FFF2-40B4-BE49-F238E27FC236}">
                <a16:creationId xmlns:a16="http://schemas.microsoft.com/office/drawing/2014/main" id="{0CEF55A7-F096-4F9F-8147-7133E9D234C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83928" y="1408938"/>
            <a:ext cx="887187" cy="11754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A577F5B-0D9F-4611-8661-CFFC51526713}"/>
              </a:ext>
            </a:extLst>
          </p:cNvPr>
          <p:cNvSpPr txBox="1"/>
          <p:nvPr/>
        </p:nvSpPr>
        <p:spPr>
          <a:xfrm>
            <a:off x="8123583" y="304800"/>
            <a:ext cx="226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/>
              <a:t>https://test.miksiei.fr</a:t>
            </a:r>
            <a:endParaRPr lang="en-GB" i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3959FD5-D076-4657-A55E-3A8A139F01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7838" y="1079428"/>
            <a:ext cx="7032694" cy="48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50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15A191-62EA-4D07-BF12-C5F0E0D44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377440"/>
            <a:ext cx="9601200" cy="1485900"/>
          </a:xfrm>
        </p:spPr>
        <p:txBody>
          <a:bodyPr>
            <a:normAutofit/>
          </a:bodyPr>
          <a:lstStyle/>
          <a:p>
            <a:r>
              <a:rPr lang="fr-FR" sz="5400" b="1" dirty="0"/>
              <a:t>Monitoring</a:t>
            </a:r>
            <a:endParaRPr lang="en-GB" sz="5400" b="1" dirty="0"/>
          </a:p>
        </p:txBody>
      </p:sp>
    </p:spTree>
    <p:extLst>
      <p:ext uri="{BB962C8B-B14F-4D97-AF65-F5344CB8AC3E}">
        <p14:creationId xmlns:p14="http://schemas.microsoft.com/office/powerpoint/2010/main" val="1329889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3;p21">
            <a:extLst>
              <a:ext uri="{FF2B5EF4-FFF2-40B4-BE49-F238E27FC236}">
                <a16:creationId xmlns:a16="http://schemas.microsoft.com/office/drawing/2014/main" id="{A6E4CA74-79C6-42F9-824A-EC0414792747}"/>
              </a:ext>
            </a:extLst>
          </p:cNvPr>
          <p:cNvSpPr/>
          <p:nvPr/>
        </p:nvSpPr>
        <p:spPr>
          <a:xfrm>
            <a:off x="2337313" y="159656"/>
            <a:ext cx="7800600" cy="1509300"/>
          </a:xfrm>
          <a:prstGeom prst="roundRect">
            <a:avLst>
              <a:gd name="adj" fmla="val 464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Google Shape;166;p21">
            <a:extLst>
              <a:ext uri="{FF2B5EF4-FFF2-40B4-BE49-F238E27FC236}">
                <a16:creationId xmlns:a16="http://schemas.microsoft.com/office/drawing/2014/main" id="{E29D81DD-F8A8-44AC-9024-21FDA90FC89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65987" y="597607"/>
            <a:ext cx="1630798" cy="91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71;p21">
            <a:extLst>
              <a:ext uri="{FF2B5EF4-FFF2-40B4-BE49-F238E27FC236}">
                <a16:creationId xmlns:a16="http://schemas.microsoft.com/office/drawing/2014/main" id="{9B7DE57C-946D-40D5-9EA5-F9B3EA7A96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147" y="597607"/>
            <a:ext cx="866977" cy="81596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" name="Google Shape;149;p20">
            <a:extLst>
              <a:ext uri="{FF2B5EF4-FFF2-40B4-BE49-F238E27FC236}">
                <a16:creationId xmlns:a16="http://schemas.microsoft.com/office/drawing/2014/main" id="{8569D8C1-E430-489A-8146-4DA0201808E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7143" y="576848"/>
            <a:ext cx="1434492" cy="777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52;p20">
            <a:extLst>
              <a:ext uri="{FF2B5EF4-FFF2-40B4-BE49-F238E27FC236}">
                <a16:creationId xmlns:a16="http://schemas.microsoft.com/office/drawing/2014/main" id="{971D29B8-FFDD-4A1C-9CB4-FA35FE6F8E2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8633" y="358227"/>
            <a:ext cx="1299596" cy="92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53;p20">
            <a:extLst>
              <a:ext uri="{FF2B5EF4-FFF2-40B4-BE49-F238E27FC236}">
                <a16:creationId xmlns:a16="http://schemas.microsoft.com/office/drawing/2014/main" id="{A12EF9E1-552E-4830-B88C-4C261B66067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5079" y="484968"/>
            <a:ext cx="766968" cy="85867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" name="Google Shape;154;p20">
            <a:extLst>
              <a:ext uri="{FF2B5EF4-FFF2-40B4-BE49-F238E27FC236}">
                <a16:creationId xmlns:a16="http://schemas.microsoft.com/office/drawing/2014/main" id="{E740D02D-3712-41A7-BF01-8B90D4D54688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38126" y="417154"/>
            <a:ext cx="856708" cy="92649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" name="Google Shape;167;p21">
            <a:extLst>
              <a:ext uri="{FF2B5EF4-FFF2-40B4-BE49-F238E27FC236}">
                <a16:creationId xmlns:a16="http://schemas.microsoft.com/office/drawing/2014/main" id="{CBE41AC4-DCC8-4FF6-9EE4-86B1B62BA13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59087" y="515133"/>
            <a:ext cx="986530" cy="898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36BD3E51-A45A-4ACD-839C-F2E726C6DF2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099" r="2167"/>
          <a:stretch/>
        </p:blipFill>
        <p:spPr>
          <a:xfrm>
            <a:off x="817745" y="2059643"/>
            <a:ext cx="11237845" cy="416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78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038CAA7-A7FD-49F0-BEEE-F3930B914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19" y="808383"/>
            <a:ext cx="11330615" cy="567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36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AA014-F52A-4A7A-93FE-E537A0D0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932" y="245085"/>
            <a:ext cx="3558209" cy="1166326"/>
          </a:xfrm>
        </p:spPr>
        <p:txBody>
          <a:bodyPr/>
          <a:lstStyle/>
          <a:p>
            <a:r>
              <a:rPr lang="fr-FR" dirty="0"/>
              <a:t>CI/CD </a:t>
            </a:r>
            <a:r>
              <a:rPr lang="fr-FR" dirty="0" err="1"/>
              <a:t>Gitlab</a:t>
            </a:r>
            <a:endParaRPr lang="en-GB" dirty="0"/>
          </a:p>
        </p:txBody>
      </p:sp>
      <p:sp>
        <p:nvSpPr>
          <p:cNvPr id="7" name="Google Shape;179;p22">
            <a:extLst>
              <a:ext uri="{FF2B5EF4-FFF2-40B4-BE49-F238E27FC236}">
                <a16:creationId xmlns:a16="http://schemas.microsoft.com/office/drawing/2014/main" id="{81991E7A-48E8-4F92-8915-797D03C91351}"/>
              </a:ext>
            </a:extLst>
          </p:cNvPr>
          <p:cNvSpPr/>
          <p:nvPr/>
        </p:nvSpPr>
        <p:spPr>
          <a:xfrm>
            <a:off x="6308315" y="188610"/>
            <a:ext cx="5645426" cy="1216095"/>
          </a:xfrm>
          <a:prstGeom prst="roundRect">
            <a:avLst>
              <a:gd name="adj" fmla="val 464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1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" name="Google Shape;181;p22">
            <a:extLst>
              <a:ext uri="{FF2B5EF4-FFF2-40B4-BE49-F238E27FC236}">
                <a16:creationId xmlns:a16="http://schemas.microsoft.com/office/drawing/2014/main" id="{9E6BE559-8111-4D27-8437-ADF17417176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6018" y="392507"/>
            <a:ext cx="1287669" cy="49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2;p22">
            <a:extLst>
              <a:ext uri="{FF2B5EF4-FFF2-40B4-BE49-F238E27FC236}">
                <a16:creationId xmlns:a16="http://schemas.microsoft.com/office/drawing/2014/main" id="{2596AD9C-632A-449A-A5B7-8535A1DE55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8618" y="481260"/>
            <a:ext cx="827461" cy="781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3;p22">
            <a:extLst>
              <a:ext uri="{FF2B5EF4-FFF2-40B4-BE49-F238E27FC236}">
                <a16:creationId xmlns:a16="http://schemas.microsoft.com/office/drawing/2014/main" id="{C9E93D26-5D0D-4E50-9E50-CB94D7F8035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5906" y="508657"/>
            <a:ext cx="705914" cy="73183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184;p22">
            <a:extLst>
              <a:ext uri="{FF2B5EF4-FFF2-40B4-BE49-F238E27FC236}">
                <a16:creationId xmlns:a16="http://schemas.microsoft.com/office/drawing/2014/main" id="{ECC9E381-F473-44D8-8D05-50655E35E67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85713" y="436074"/>
            <a:ext cx="691763" cy="73183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" name="Google Shape;185;p22">
            <a:extLst>
              <a:ext uri="{FF2B5EF4-FFF2-40B4-BE49-F238E27FC236}">
                <a16:creationId xmlns:a16="http://schemas.microsoft.com/office/drawing/2014/main" id="{4D2D5431-1362-4863-826A-3222642C9CD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09947" y="436074"/>
            <a:ext cx="890563" cy="752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86;p22">
            <a:extLst>
              <a:ext uri="{FF2B5EF4-FFF2-40B4-BE49-F238E27FC236}">
                <a16:creationId xmlns:a16="http://schemas.microsoft.com/office/drawing/2014/main" id="{2F7A52FA-2A98-4493-881A-575259152C71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62679" y="332927"/>
            <a:ext cx="890563" cy="97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87;p22">
            <a:extLst>
              <a:ext uri="{FF2B5EF4-FFF2-40B4-BE49-F238E27FC236}">
                <a16:creationId xmlns:a16="http://schemas.microsoft.com/office/drawing/2014/main" id="{06BAF51F-0CAC-4F1D-A6E8-51DD79855196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866823" y="405584"/>
            <a:ext cx="1487829" cy="76232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88;p22">
            <a:extLst>
              <a:ext uri="{FF2B5EF4-FFF2-40B4-BE49-F238E27FC236}">
                <a16:creationId xmlns:a16="http://schemas.microsoft.com/office/drawing/2014/main" id="{E49B3CD6-6373-48D0-AA30-F688ED150C62}"/>
              </a:ext>
            </a:extLst>
          </p:cNvPr>
          <p:cNvSpPr txBox="1"/>
          <p:nvPr/>
        </p:nvSpPr>
        <p:spPr>
          <a:xfrm>
            <a:off x="829191" y="1481562"/>
            <a:ext cx="799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dk1"/>
                </a:solidFill>
              </a:rPr>
              <a:t>Différents tests ont été effectués à chaque merge en fonction de la branche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E7D760C-65E0-483A-9906-782FC427ED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674" y="2052178"/>
            <a:ext cx="4739953" cy="451699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247BDC2-7619-408B-B18F-644636110F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2528" y="2013413"/>
            <a:ext cx="4725726" cy="451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69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57EF4-E878-421E-AEAC-99665DD1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943100"/>
            <a:ext cx="9601200" cy="1485900"/>
          </a:xfrm>
        </p:spPr>
        <p:txBody>
          <a:bodyPr/>
          <a:lstStyle/>
          <a:p>
            <a:r>
              <a:rPr lang="fr-FR" dirty="0"/>
              <a:t>Quelques réalisations en détail</a:t>
            </a:r>
            <a:endParaRPr lang="en-GB" dirty="0" err="1"/>
          </a:p>
        </p:txBody>
      </p:sp>
    </p:spTree>
    <p:extLst>
      <p:ext uri="{BB962C8B-B14F-4D97-AF65-F5344CB8AC3E}">
        <p14:creationId xmlns:p14="http://schemas.microsoft.com/office/powerpoint/2010/main" val="761941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87871-CC72-4E64-818A-C87A39848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61" y="106017"/>
            <a:ext cx="5365339" cy="1510748"/>
          </a:xfrm>
        </p:spPr>
        <p:txBody>
          <a:bodyPr>
            <a:normAutofit fontScale="90000"/>
          </a:bodyPr>
          <a:lstStyle/>
          <a:p>
            <a:pPr fontAlgn="ctr"/>
            <a:r>
              <a:rPr lang="fr-FR" sz="2700" dirty="0"/>
              <a:t>Création d'une image de conteneur Docker, hébergement de l'image dans un registre d'images et mise à jour automatique du registre d'images</a:t>
            </a:r>
            <a:br>
              <a:rPr lang="fr-FR" sz="3100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2E58093-0B16-44A7-B32E-3E79315B2A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50"/>
          <a:stretch/>
        </p:blipFill>
        <p:spPr>
          <a:xfrm>
            <a:off x="6096000" y="2708412"/>
            <a:ext cx="4831170" cy="414958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CF352B1-7C0D-4111-966E-6FE9FA58F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61" y="1961322"/>
            <a:ext cx="4831170" cy="489667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0DA5215-D6B4-4CC6-BF5C-4E111EADC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354" y="1"/>
            <a:ext cx="6497646" cy="262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60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D52794-B883-44A2-AD7D-11AB252A9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496" y="0"/>
            <a:ext cx="3346174" cy="1485900"/>
          </a:xfrm>
        </p:spPr>
        <p:txBody>
          <a:bodyPr>
            <a:normAutofit/>
          </a:bodyPr>
          <a:lstStyle/>
          <a:p>
            <a:r>
              <a:rPr lang="fr-FR" sz="3200" dirty="0"/>
              <a:t>Conteneurisation  via Docker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9DFFC54-229C-4745-9538-584E743FA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875" y="141938"/>
            <a:ext cx="4867954" cy="67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43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A9C12D-D1A4-4BC7-9303-D361FDDE2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391" y="145773"/>
            <a:ext cx="10111409" cy="1391479"/>
          </a:xfrm>
        </p:spPr>
        <p:txBody>
          <a:bodyPr>
            <a:normAutofit/>
          </a:bodyPr>
          <a:lstStyle/>
          <a:p>
            <a:r>
              <a:rPr lang="fr-FR" sz="3100" b="1" dirty="0"/>
              <a:t>Mise en place de l’environnement de test </a:t>
            </a:r>
            <a:br>
              <a:rPr lang="en-GB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BE35F2-8C4B-4440-9BB7-DD64A2DC0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1391" y="1113184"/>
            <a:ext cx="10111409" cy="5744816"/>
          </a:xfrm>
        </p:spPr>
        <p:txBody>
          <a:bodyPr>
            <a:normAutofit fontScale="92500"/>
          </a:bodyPr>
          <a:lstStyle/>
          <a:p>
            <a:r>
              <a:rPr lang="fr-FR" dirty="0"/>
              <a:t>Premier approche 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Génération de clé SSH si elle n’existe pas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Création de l’instance via fichier </a:t>
            </a:r>
            <a:r>
              <a:rPr lang="fr-FR" sz="1800" i="1" dirty="0" err="1"/>
              <a:t>Terraform</a:t>
            </a:r>
            <a:r>
              <a:rPr lang="fr-FR" sz="1800" i="1" dirty="0"/>
              <a:t> et récupération de l’IP de l’instance créée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Création d'un fichier d'inventaire Ansible avec l'adresse IP de l'instance EC2 et exécution du </a:t>
            </a:r>
            <a:r>
              <a:rPr lang="fr-FR" sz="1800" i="1" dirty="0" err="1"/>
              <a:t>playbook</a:t>
            </a:r>
            <a:r>
              <a:rPr lang="fr-FR" sz="1800" i="1" dirty="0"/>
              <a:t> Ansible pour installer Docker sur l'instance EC2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Association de l’IP de l’instance à un nom de domaine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Connexion sur l’instance créée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Création d’un répertoire pour les configurations Nginx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Copie des fichiers nécessaires pour la mise en place des certificats SSL et du fichier Docker nécessaire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Démarrage du Docker Compose et génération des certificats SSL via </a:t>
            </a:r>
            <a:r>
              <a:rPr lang="fr-FR" sz="1800" i="1" dirty="0" err="1"/>
              <a:t>Certbot</a:t>
            </a:r>
            <a:endParaRPr lang="fr-FR" sz="1800" i="1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FR" sz="1800" i="1" dirty="0"/>
              <a:t>Mise à jour de la configuration Nginx, redémarrage de Docker, installation de </a:t>
            </a:r>
            <a:r>
              <a:rPr lang="fr-FR" sz="1800" i="1" dirty="0" err="1"/>
              <a:t>cron</a:t>
            </a:r>
            <a:r>
              <a:rPr lang="fr-FR" sz="1800" i="1" dirty="0"/>
              <a:t> et configuration d’un </a:t>
            </a:r>
            <a:r>
              <a:rPr lang="fr-FR" sz="1800" i="1" dirty="0" err="1"/>
              <a:t>cron</a:t>
            </a:r>
            <a:r>
              <a:rPr lang="fr-FR" sz="1800" i="1" dirty="0"/>
              <a:t> job pour le renouvellement automatique du certificat SSL sur une base trimestrielle</a:t>
            </a:r>
          </a:p>
          <a:p>
            <a:r>
              <a:rPr lang="fr-FR" dirty="0"/>
              <a:t>Deuxième approche basé sur </a:t>
            </a:r>
            <a:r>
              <a:rPr lang="fr-FR" dirty="0">
                <a:sym typeface="Wingdings" panose="05000000000000000000" pitchFamily="2" charset="2"/>
              </a:rPr>
              <a:t>deux scripts :</a:t>
            </a:r>
            <a:endParaRPr lang="fr-FR" dirty="0"/>
          </a:p>
          <a:p>
            <a:pPr marL="987552" lvl="1" indent="-457200">
              <a:buFont typeface="+mj-lt"/>
              <a:buAutoNum type="arabicPeriod"/>
            </a:pPr>
            <a:r>
              <a:rPr lang="fr-FR" sz="1800" dirty="0"/>
              <a:t>Script qui automatise les taches  1 - 3 décrites antérieurement</a:t>
            </a:r>
          </a:p>
          <a:p>
            <a:pPr marL="987552" lvl="1" indent="-457200">
              <a:buFont typeface="+mj-lt"/>
              <a:buAutoNum type="arabicPeriod"/>
            </a:pPr>
            <a:r>
              <a:rPr lang="fr-FR" sz="1800" dirty="0"/>
              <a:t>Script qui automatise les taches 5 – 9 décrites antérieurement</a:t>
            </a:r>
          </a:p>
          <a:p>
            <a:pPr marL="457200" indent="-457200"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7206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82E71957-A528-42F3-800F-8E01B22F2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28" y="0"/>
            <a:ext cx="6258798" cy="44392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0F6695C-8318-4CDF-9DC1-3D71913F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254" y="2219635"/>
            <a:ext cx="6058746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44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437CB8BD-6B93-4466-8E56-4B0FEABF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950" y="106018"/>
            <a:ext cx="6516050" cy="68580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191A809-3501-4B24-BC1A-3385F7244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77" y="1181675"/>
            <a:ext cx="483937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43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FE198-1B0E-4F76-B92C-BC2BD30DD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486" y="172277"/>
            <a:ext cx="10277062" cy="3604592"/>
          </a:xfrm>
        </p:spPr>
        <p:txBody>
          <a:bodyPr>
            <a:noAutofit/>
          </a:bodyPr>
          <a:lstStyle/>
          <a:p>
            <a:r>
              <a:rPr lang="fr-FR" sz="2800" dirty="0"/>
              <a:t>Analyse de la qualité et de la sécurité du code (Frontend/Backend)</a:t>
            </a:r>
            <a:br>
              <a:rPr lang="fr-FR" sz="2800" dirty="0"/>
            </a:br>
            <a:br>
              <a:rPr lang="fr-FR" sz="2800" dirty="0"/>
            </a:br>
            <a:r>
              <a:rPr lang="fr-FR" sz="2800" dirty="0" err="1"/>
              <a:t>ESLint</a:t>
            </a:r>
            <a:r>
              <a:rPr lang="fr-FR" sz="2800" dirty="0"/>
              <a:t> et </a:t>
            </a:r>
            <a:r>
              <a:rPr lang="fr-FR" sz="2800" dirty="0" err="1"/>
              <a:t>SonarCloud</a:t>
            </a:r>
            <a:br>
              <a:rPr lang="fr-FR" sz="2800" dirty="0"/>
            </a:br>
            <a:br>
              <a:rPr lang="fr-FR" sz="2800" dirty="0"/>
            </a:br>
            <a:r>
              <a:rPr lang="fr-FR" sz="2800" dirty="0"/>
              <a:t> 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372E3A41-452C-4AEB-92CC-FCBFA4A55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36902" y="2681172"/>
            <a:ext cx="5268060" cy="210531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91015D9-5400-4A95-BB7C-FAA051561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832" y="2014330"/>
            <a:ext cx="4867954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3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FA706-AFAC-4D81-84CD-87505BE65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261" y="0"/>
            <a:ext cx="6526696" cy="705679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Ajout du </a:t>
            </a:r>
            <a:r>
              <a:rPr lang="fr-FR" b="1" dirty="0" err="1"/>
              <a:t>status</a:t>
            </a:r>
            <a:r>
              <a:rPr lang="fr-FR" b="1" dirty="0"/>
              <a:t> UP/down sur </a:t>
            </a:r>
            <a:r>
              <a:rPr lang="fr-FR" b="1" dirty="0" err="1"/>
              <a:t>Grafana</a:t>
            </a:r>
            <a:br>
              <a:rPr lang="en-GB" b="1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FE8049D-9A8D-4296-8DED-301D8D03E1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28261" y="1118843"/>
            <a:ext cx="2549525" cy="10096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9838E0D-09C8-45D4-9650-0DB4B3C1D419}"/>
              </a:ext>
            </a:extLst>
          </p:cNvPr>
          <p:cNvPicPr/>
          <p:nvPr/>
        </p:nvPicPr>
        <p:blipFill rotWithShape="1">
          <a:blip r:embed="rId3"/>
          <a:srcRect r="48692"/>
          <a:stretch/>
        </p:blipFill>
        <p:spPr>
          <a:xfrm>
            <a:off x="828262" y="2143125"/>
            <a:ext cx="4287078" cy="47148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75895E6-2573-46DF-B69D-4EDC7014B5B6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8" t="23839" r="9584" b="9275"/>
          <a:stretch/>
        </p:blipFill>
        <p:spPr bwMode="auto">
          <a:xfrm>
            <a:off x="4837043" y="1566862"/>
            <a:ext cx="7354957" cy="5112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B207A11-B044-4F17-AF13-C859871DE1F5}"/>
              </a:ext>
            </a:extLst>
          </p:cNvPr>
          <p:cNvPicPr/>
          <p:nvPr/>
        </p:nvPicPr>
        <p:blipFill rotWithShape="1">
          <a:blip r:embed="rId5"/>
          <a:srcRect l="49711"/>
          <a:stretch/>
        </p:blipFill>
        <p:spPr>
          <a:xfrm>
            <a:off x="8331489" y="-130036"/>
            <a:ext cx="2922645" cy="17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88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57EF4-E878-421E-AEAC-99665DD19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955" y="2467897"/>
            <a:ext cx="9601200" cy="1485900"/>
          </a:xfrm>
        </p:spPr>
        <p:txBody>
          <a:bodyPr>
            <a:normAutofit/>
          </a:bodyPr>
          <a:lstStyle/>
          <a:p>
            <a:r>
              <a:rPr lang="fr-FR" sz="5400" b="1" i="1" dirty="0">
                <a:solidFill>
                  <a:srgbClr val="FF0000"/>
                </a:solidFill>
              </a:rPr>
              <a:t>Merci pour votre écoute !</a:t>
            </a:r>
            <a:endParaRPr lang="en-GB" sz="5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999520"/>
      </p:ext>
    </p:extLst>
  </p:cSld>
  <p:clrMapOvr>
    <a:masterClrMapping/>
  </p:clrMapOvr>
</p:sld>
</file>

<file path=ppt/theme/theme1.xml><?xml version="1.0" encoding="utf-8"?>
<a:theme xmlns:a="http://schemas.openxmlformats.org/drawingml/2006/main" name="Cadrage">
  <a:themeElements>
    <a:clrScheme name="Cadrag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adrag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dra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Cadrage</Template>
  <TotalTime>9357</TotalTime>
  <Words>660</Words>
  <Application>Microsoft Office PowerPoint</Application>
  <PresentationFormat>Widescreen</PresentationFormat>
  <Paragraphs>113</Paragraphs>
  <Slides>26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Cadrage</vt:lpstr>
      <vt:lpstr>Morning news ? </vt:lpstr>
      <vt:lpstr>Cahier des charges </vt:lpstr>
      <vt:lpstr>Objectifs </vt:lpstr>
      <vt:lpstr>Notre approche</vt:lpstr>
      <vt:lpstr>Méthode de travail</vt:lpstr>
      <vt:lpstr>Versionning</vt:lpstr>
      <vt:lpstr>Schéma d’infrastructure</vt:lpstr>
      <vt:lpstr>Environnement de prod</vt:lpstr>
      <vt:lpstr>Prod - Backend </vt:lpstr>
      <vt:lpstr> Prod - Frontend</vt:lpstr>
      <vt:lpstr>Environnement de pre-prod</vt:lpstr>
      <vt:lpstr>Pre-prod - Backend</vt:lpstr>
      <vt:lpstr>Pre-prod - Frontend</vt:lpstr>
      <vt:lpstr>Monitoring</vt:lpstr>
      <vt:lpstr>PowerPoint Presentation</vt:lpstr>
      <vt:lpstr>PowerPoint Presentation</vt:lpstr>
      <vt:lpstr>CI/CD Gitlab</vt:lpstr>
      <vt:lpstr>Quelques réalisations en détail</vt:lpstr>
      <vt:lpstr>Création d'une image de conteneur Docker, hébergement de l'image dans un registre d'images et mise à jour automatique du registre d'images   </vt:lpstr>
      <vt:lpstr>Conteneurisation  via Docker </vt:lpstr>
      <vt:lpstr>Mise en place de l’environnement de test  </vt:lpstr>
      <vt:lpstr>PowerPoint Presentation</vt:lpstr>
      <vt:lpstr>PowerPoint Presentation</vt:lpstr>
      <vt:lpstr>Analyse de la qualité et de la sécurité du code (Frontend/Backend)  ESLint et SonarCloud   </vt:lpstr>
      <vt:lpstr>Ajout du status UP/down sur Grafana </vt:lpstr>
      <vt:lpstr>Merci pour votre écoute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Morning news ?</dc:title>
  <dc:creator>Cristina Arcusi</dc:creator>
  <cp:lastModifiedBy>Cristina Arcusi</cp:lastModifiedBy>
  <cp:revision>43</cp:revision>
  <dcterms:created xsi:type="dcterms:W3CDTF">2024-07-03T07:05:15Z</dcterms:created>
  <dcterms:modified xsi:type="dcterms:W3CDTF">2026-01-29T10:15:48Z</dcterms:modified>
</cp:coreProperties>
</file>